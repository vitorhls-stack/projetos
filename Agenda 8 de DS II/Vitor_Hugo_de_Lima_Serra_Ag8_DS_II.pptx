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243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B0AE"/>
                </a:solidFill>
                <a:latin typeface="Century Gothic" pitchFamily="34" charset="0"/>
              </a:rPr>
              <a:t>DESENVOLVIMENTO DE SISTEMAS II – AGENDA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LISTA DE AMIGOS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06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Sistema de Login, Sessões e CRUD em PHP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3520440"/>
            <a:ext cx="35661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4361411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Vitor Hugo de Lima Serra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Sobre o Projeto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Lista de Amigos evoluiu de um simples CRUD para uma aplicação PHP completa: acesso restrito por login, controle de sessão do usuário e reaproveitamento de código entre páginas.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3383280" cy="3108960"/>
          </a:xfrm>
          <a:prstGeom prst="roundRect">
            <a:avLst>
              <a:gd name="adj" fmla="val 4412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918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Autenticação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572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Tela de login que valida usuário e senha diretamente no banco de dados.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971800"/>
            <a:ext cx="3383280" cy="3108960"/>
          </a:xfrm>
          <a:prstGeom prst="roundRect">
            <a:avLst>
              <a:gd name="adj" fmla="val 4412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29184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Sessões &amp; Segurança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4572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Uso de $_SESSION para manter o usuário logado e bloquear acesso indevido via URL.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01000" y="2971800"/>
            <a:ext cx="3383280" cy="3108960"/>
          </a:xfrm>
          <a:prstGeom prst="roundRect">
            <a:avLst>
              <a:gd name="adj" fmla="val 4412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29184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2104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CRUD Completo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8321040" y="4572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Cadastro, listagem, edição e exclusão de amigos, protegidos por login.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Arquitetura do Sistema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index.php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Formulário de login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62072" y="178308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19659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53512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loginAction.php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953512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 no banco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782312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5038344" y="178308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44" y="19659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9784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$_SESSION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129784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Usuário autenticado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958584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7214616" y="178308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16" y="196596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06056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principal.php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306056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 do CRUD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9134856" y="23774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9390888" y="178308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6688" y="196596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482328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cadastro / listar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482328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Amigos (CRUD)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3840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Toda página do CRUD só é liberada depois que verificarAcesso.php confirma que existe uma </a:t>
            </a:r>
            <a:r>
              <a:rPr lang="en-US" sz="1400" dirty="0" err="1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sessão</a:t>
            </a:r>
            <a:r>
              <a:rPr lang="en-US" sz="14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400" dirty="0" err="1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ativa</a:t>
            </a:r>
            <a:r>
              <a:rPr lang="en-US" sz="14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caso contrário, o usuário é redirecionado para acessoNegado.php.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85800" y="4937760"/>
            <a:ext cx="5120640" cy="1143000"/>
          </a:xfrm>
          <a:prstGeom prst="roundRect">
            <a:avLst>
              <a:gd name="adj" fmla="val 12000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525780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691640" y="5166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conexaoBD.php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1691640" y="5532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Conexão única com o MySQL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172200" y="4937760"/>
            <a:ext cx="5120640" cy="1143000"/>
          </a:xfrm>
          <a:prstGeom prst="roundRect">
            <a:avLst>
              <a:gd name="adj" fmla="val 12000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5257800"/>
            <a:ext cx="502920" cy="50292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178040" y="5166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cabecalho.php / rodape.php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7178040" y="5532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Layout repetido em include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Banco de 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297680" cy="2331720"/>
          </a:xfrm>
          <a:prstGeom prst="roundRect">
            <a:avLst>
              <a:gd name="adj" fmla="val 5882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usuario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 — chave primária, auto incremento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443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VARCHAR(45)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112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senha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VARCHAR(45)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4297680"/>
            <a:ext cx="4297680" cy="1874520"/>
          </a:xfrm>
          <a:prstGeom prst="roundRect">
            <a:avLst>
              <a:gd name="adj" fmla="val 731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805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4507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Ponto de atenção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50292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senha é gravada em texto puro. Em produção, o ideal é usar password_hash() e password_verify().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03520" y="1783080"/>
            <a:ext cx="6263640" cy="210312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5486400" y="1920240"/>
            <a:ext cx="5897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`pwii`.`usuario` 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`idusuario` INT NOT NULL AUTO_INCREMENT,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`nome` VARCHAR(45)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`senha` VARCHAR(45) NOT NULL,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(`idusuario`));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03520" y="4114800"/>
            <a:ext cx="6263640" cy="96012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5486400" y="4251960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`pwii`.`usuario`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(`nome`,`senha`) VALUES ('gabi','gabi123');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530352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validação do login é feita comparando o campo "nome" digitado com o registro salvo, e então conferindo se a senha bate com o valor armazenado.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Tela de Login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56232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Formulário simples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Dois campos obrigatórios: txtNome e txtSenha, mais um botão "Entrar".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Campo senha oculto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input de senha usa type="password" para não exibir os caracteres digitados.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9087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Envio via POST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5120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 dados seguem para loginAction.php, responsável por validar o acesso.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858000" y="1856232"/>
            <a:ext cx="4206240" cy="3907259"/>
          </a:xfrm>
          <a:prstGeom prst="roundRect">
            <a:avLst>
              <a:gd name="adj" fmla="val 3158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01168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237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Usuário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223760" y="3200400"/>
            <a:ext cx="3657600" cy="45720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1"/>
          <p:cNvSpPr txBox="1"/>
          <p:nvPr/>
        </p:nvSpPr>
        <p:spPr>
          <a:xfrm>
            <a:off x="73609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Digite o nome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22376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Senha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223760" y="4160520"/>
            <a:ext cx="3657600" cy="45720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4"/>
          <p:cNvSpPr txBox="1"/>
          <p:nvPr/>
        </p:nvSpPr>
        <p:spPr>
          <a:xfrm>
            <a:off x="736092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••••••••••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223760" y="4846320"/>
            <a:ext cx="3657600" cy="502920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 txBox="1"/>
          <p:nvPr/>
        </p:nvSpPr>
        <p:spPr>
          <a:xfrm>
            <a:off x="7223760" y="4846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52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Entrar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040880" y="5577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action="</a:t>
            </a:r>
            <a:r>
              <a:rPr lang="en-US" sz="1050" dirty="0" err="1">
                <a:solidFill>
                  <a:srgbClr val="A3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loginAction.php</a:t>
            </a:r>
            <a:r>
              <a:rPr lang="en-US" sz="1050" dirty="0">
                <a:solidFill>
                  <a:srgbClr val="A3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·  method="post"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Validando o Login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943600" cy="438912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$nome  = $_POST["txtNome"];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$senha = $_POST["txtSenha"];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 "conexaoBD.php";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= "SELECT * FROM usuario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nome = '".$nome."'";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$resultado = $conexao-&gt;query($sql);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$linha = mysqli_fetch_array($resultado);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($linha != null)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($linha["senha"] == $senha)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$_SESSION["logado"] = $nome;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// else: senha incorreta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// else: usuário não encontrado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Recebe os dados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1671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Captura txtNome e txtSenha vindos do formulário via $_POST.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29443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80960" y="2898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Consulta o banco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680960" y="328269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Um SELECT busca o registro do usuário pelo nome informado.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4059936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80960" y="4014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Compara a senha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680960" y="43982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a senha da tabela bater com a digitada, o login é válido.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5175504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680960" y="51297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Abre a sessão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0" y="55138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$_SESSION["logado"] guarda o nome do usuário autenticado.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Sessões em PHP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protocolo HTTP não guarda quem é o usuário entre uma página e outra. As variáveis de sessão resolvem esse problema, armazenando dados que ficam disponíveis em todas as páginas durante a visita.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5303520" cy="173736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criar a sessão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$_SESSION["Nome"]  = "Gabi";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$_SESSION["Idade"] = 17;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880360"/>
            <a:ext cx="5303520" cy="173736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46520" y="3017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ler em outra página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"Nome: ".$_SESSION["Nome"];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"Idade: ".$_SESSION["Idade"];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8920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session_start() precisa ser chamada em toda página que for usar ou ler a sessão.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projeto, $_SESSION["logado"] guarda o nome de quem fez login com sucesso.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 essa variável ativa, o acesso às páginas do CRUD é bloqueado.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Protegendo as Rotas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94960" cy="251460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(!isset($_SESSION))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session_start();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(!isset($_SESSION["logado"]))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header("location:acessoNegado.php");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die();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5120640" cy="2514600"/>
          </a:xfrm>
          <a:prstGeom prst="roundRect">
            <a:avLst>
              <a:gd name="adj" fmla="val 5455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60920" y="2084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que isso importa?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6974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 essa verificação, bastaria digitar a URL de principal.php para burlar o login. Este arquivo é incluído no topo de toda página protegida, barrando o acesso direto.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4572000"/>
            <a:ext cx="10835640" cy="64008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868680" y="4709160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require_once ('verificarAcesso.php'); ?&gt;   // primeira linha de cada página protegida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4406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Resultado: </a:t>
            </a:r>
            <a:r>
              <a:rPr lang="en-US" sz="14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ao tentar acessar uma página do sistema sem estar logado, o usuário é redirecionado para a mensagem "Acesso Negado".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Encerrando a Sessão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669280" cy="192024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require_once ('verificarAcesso.php'); ?&gt;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unset($_SESSION["logado"]);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header("location:index.php");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931920"/>
            <a:ext cx="5669280" cy="2240280"/>
          </a:xfrm>
          <a:prstGeom prst="roundRect">
            <a:avLst>
              <a:gd name="adj" fmla="val 6122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6012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Botão de logout em principal.php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4617720"/>
            <a:ext cx="1737360" cy="457200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960120" y="4617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52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✕  Logout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5212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Um formulário com method="post" envia a ação para logoutAction.php, permitindo que o usuário saia do sistema a qualquer momento.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2880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4523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a sessão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2194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verificarAcesso.php garante que só um usuário logado pode fazer logout.</a:t>
            </a:r>
            <a:endParaRPr lang="en-US" sz="12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2918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5236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Remove a variável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36576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unset($_SESSION["logado"]) apaga a marca de "usuário autenticado".</a:t>
            </a:r>
            <a:endParaRPr lang="en-US" sz="12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754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52360" y="4709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Redireciona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452360" y="51206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header() envia o usuário de volta para index.php — o login volta a ser exigido.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Reuso de Código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 vez de repetir a conexão e o layout em cada arquivo, o projeto centraliza esse código e o importa onde for preciso — economizando tempo e evitando erros.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3383280" cy="2514600"/>
          </a:xfrm>
          <a:prstGeom prst="roundRect">
            <a:avLst>
              <a:gd name="adj" fmla="val 5455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017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conexaoBD.php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069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Concentra host, usuário, senha e nome do banco em um único lugar. Trocar a senha do banco exige alterar apenas este arquivo.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788920"/>
            <a:ext cx="3383280" cy="2514600"/>
          </a:xfrm>
          <a:prstGeom prst="roundRect">
            <a:avLst>
              <a:gd name="adj" fmla="val 5455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175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cabecalho / rodape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4069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Guardam o HTML fixo (head, estilos, abertura e fechamento do body), repetido em todas as páginas.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01000" y="2788920"/>
            <a:ext cx="3383280" cy="2514600"/>
          </a:xfrm>
          <a:prstGeom prst="roundRect">
            <a:avLst>
              <a:gd name="adj" fmla="val 5455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0175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210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verificarAcesso.php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321040" y="4069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Importado no topo de cada página protegida, aplicando a mesma regra de segurança em todo o site.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85800" y="5532120"/>
            <a:ext cx="10698480" cy="59436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 txBox="1"/>
          <p:nvPr/>
        </p:nvSpPr>
        <p:spPr>
          <a:xfrm>
            <a:off x="868680" y="5669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require_once ('cabecalho.php'); ?&gt;   ...   &lt;?php require_once ('rodape.php'); ?&gt;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CRUD — Lista de Amigos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Depois do login, o menu principal dá acesso ao cadastro de amigos — protegido pela mesma verificação de sessão usada em todo o sistema.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2560320" cy="3429000"/>
          </a:xfrm>
          <a:prstGeom prst="roundRect">
            <a:avLst>
              <a:gd name="adj" fmla="val 535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60120" y="2926080"/>
            <a:ext cx="777240" cy="777240"/>
          </a:xfrm>
          <a:prstGeom prst="ellipse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52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D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cadastro.php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663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Formulário que insere um novo amigo (nome, contato, etc.) na tabela do banco de dados.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697480"/>
            <a:ext cx="2560320" cy="3429000"/>
          </a:xfrm>
          <a:prstGeom prst="roundRect">
            <a:avLst>
              <a:gd name="adj" fmla="val 535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703320" y="2926080"/>
            <a:ext cx="777240" cy="777240"/>
          </a:xfrm>
          <a:prstGeom prst="ellipse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3703320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52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D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listar.php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4663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Percorre os registros com foreach e mysqli, exibindo a lista completa de amigos cadastrados.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697480"/>
            <a:ext cx="2560320" cy="3429000"/>
          </a:xfrm>
          <a:prstGeom prst="roundRect">
            <a:avLst>
              <a:gd name="adj" fmla="val 535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46520" y="2926080"/>
            <a:ext cx="777240" cy="777240"/>
          </a:xfrm>
          <a:prstGeom prst="ellipse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446520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52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D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editar.php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63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Carrega os dados de um amigo pelo id e grava as alterações com um UPDATE.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15400" y="2697480"/>
            <a:ext cx="2560320" cy="3429000"/>
          </a:xfrm>
          <a:prstGeom prst="roundRect">
            <a:avLst>
              <a:gd name="adj" fmla="val 535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189720" y="2926080"/>
            <a:ext cx="777240" cy="777240"/>
          </a:xfrm>
          <a:prstGeom prst="ellipse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9189720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252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Delete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6DD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excluir.php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46634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Remove o registro selecionado da tabela após confirmação do usuário.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Cookies (Complemento)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1089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288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18288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Cookies são pequenos dados trocados entre navegador e servidor, salvos em um arquivo de texto no computador do usuário — úteis para lembrar preferências entre visitas.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0233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1º parâmetro  </a:t>
            </a:r>
            <a:r>
              <a:rPr lang="en-US" sz="13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 nome do cookie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2º parâmetro  </a:t>
            </a:r>
            <a:r>
              <a:rPr lang="en-US" sz="13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 valor armazenado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3º parâmetro (opcional)  </a:t>
            </a:r>
            <a:r>
              <a:rPr lang="en-US" sz="130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 tempo de expiração, em segundos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0" y="1783080"/>
            <a:ext cx="4480560" cy="100584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 txBox="1"/>
          <p:nvPr/>
        </p:nvSpPr>
        <p:spPr>
          <a:xfrm>
            <a:off x="7040880" y="1920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setcookie('usuario', 'gabi');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0" y="3108960"/>
            <a:ext cx="4480560" cy="1554480"/>
          </a:xfrm>
          <a:prstGeom prst="rect">
            <a:avLst/>
          </a:prstGeom>
          <a:solidFill>
            <a:srgbClr val="0E1C1F"/>
          </a:solidFill>
          <a:ln w="12700">
            <a:solidFill>
              <a:srgbClr val="245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7040880" y="32461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cookie válido por 1 dia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setcookie('usuario', 'gabi',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5F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(time() + (24 * 3600)));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Boas Práticas &amp; 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84048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1965960"/>
          </a:xfrm>
          <a:prstGeom prst="roundRect">
            <a:avLst>
              <a:gd name="adj" fmla="val 697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de senha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560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Trocar a comparação direta por password_hash() ao cadastrar e password_verify() ao validar o login.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257800" cy="1965960"/>
          </a:xfrm>
          <a:prstGeom prst="roundRect">
            <a:avLst>
              <a:gd name="adj" fmla="val 697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1488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Consultas seguras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360920" y="2560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Usar prepared statements (mysqli/PDO) para evitar SQL Injection nas consultas com dados do usuário.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3977640"/>
            <a:ext cx="5257800" cy="1965960"/>
          </a:xfrm>
          <a:prstGeom prst="roundRect">
            <a:avLst>
              <a:gd name="adj" fmla="val 697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434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7452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Validação de campos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874520" y="4754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Checar formato e tamanho dos dados enviados antes de gravar no banco.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3977640"/>
            <a:ext cx="5257800" cy="1965960"/>
          </a:xfrm>
          <a:prstGeom prst="roundRect">
            <a:avLst>
              <a:gd name="adj" fmla="val 6977"/>
            </a:avLst>
          </a:prstGeom>
          <a:solidFill>
            <a:srgbClr val="182F33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3434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6092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Domínio e hospedagem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360920" y="4754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3B0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Publicar o projeto com um domínio próprio e hospedagem, tornando-o acessível pela internet.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972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 login ao CRUD completo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2011680"/>
            <a:ext cx="3566160" cy="82296"/>
          </a:xfrm>
          <a:prstGeom prst="rect">
            <a:avLst/>
          </a:prstGeom>
          <a:solidFill>
            <a:srgbClr val="66DDAA"/>
          </a:solidFill>
          <a:ln w="12700">
            <a:solidFill>
              <a:srgbClr val="66DD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8580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Autenticação, sessões, proteção de rotas, reuso de código e operações de CRUD — tudo aplicado em um único projeto PHP.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6576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32529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Login &amp; Sessão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36576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32529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15468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Segurança de Rotas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36576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32529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08076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Include &amp; Require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3434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32529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685800" y="4343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CRUD de Amigos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37560" y="43434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32529"/>
          </a:solidFill>
          <a:ln w="15875">
            <a:solidFill>
              <a:srgbClr val="3DBE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3337560" y="4343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DD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Cookies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257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Obrigado</a:t>
            </a:r>
            <a:r>
              <a: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!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1439</Words>
  <Application>Microsoft Office PowerPoint</Application>
  <PresentationFormat>Widescreen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Lista de Amigos — Login, Sessões e CRUD em PHP</dc:title>
  <dc:subject>PptxGenJS Presentation</dc:subject>
  <dc:creator>PptxGenJS</dc:creator>
  <cp:lastModifiedBy>vitorhls365@hotmail.com</cp:lastModifiedBy>
  <cp:revision>2</cp:revision>
  <dcterms:created xsi:type="dcterms:W3CDTF">2026-09-24T23:43:38Z</dcterms:created>
  <dcterms:modified xsi:type="dcterms:W3CDTF">2026-09-27T15:50:16Z</dcterms:modified>
</cp:coreProperties>
</file>